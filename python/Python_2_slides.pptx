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9ED8BD-BF51-4BB8-96C3-60CD4A4024F8}" v="9" dt="2025-10-03T08:50:44.1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la Iñigo de la Cruz" userId="fae4ed0d-52e1-4e8b-ac73-77e0b7235c9a" providerId="ADAL" clId="{959ED8BD-BF51-4BB8-96C3-60CD4A4024F8}"/>
    <pc:docChg chg="custSel modSld">
      <pc:chgData name="Leila Iñigo de la Cruz" userId="fae4ed0d-52e1-4e8b-ac73-77e0b7235c9a" providerId="ADAL" clId="{959ED8BD-BF51-4BB8-96C3-60CD4A4024F8}" dt="2025-10-03T09:08:47.612" v="130" actId="2711"/>
      <pc:docMkLst>
        <pc:docMk/>
      </pc:docMkLst>
      <pc:sldChg chg="addSp delSp modSp mod">
        <pc:chgData name="Leila Iñigo de la Cruz" userId="fae4ed0d-52e1-4e8b-ac73-77e0b7235c9a" providerId="ADAL" clId="{959ED8BD-BF51-4BB8-96C3-60CD4A4024F8}" dt="2025-10-03T08:46:56.337" v="1" actId="478"/>
        <pc:sldMkLst>
          <pc:docMk/>
          <pc:sldMk cId="2673622745" sldId="256"/>
        </pc:sldMkLst>
        <pc:spChg chg="add del mod">
          <ac:chgData name="Leila Iñigo de la Cruz" userId="fae4ed0d-52e1-4e8b-ac73-77e0b7235c9a" providerId="ADAL" clId="{959ED8BD-BF51-4BB8-96C3-60CD4A4024F8}" dt="2025-10-03T08:46:56.337" v="1" actId="478"/>
          <ac:spMkLst>
            <pc:docMk/>
            <pc:sldMk cId="2673622745" sldId="256"/>
            <ac:spMk id="3" creationId="{DEC35312-FB59-53F4-51E6-08DCD19C29B0}"/>
          </ac:spMkLst>
        </pc:spChg>
        <pc:spChg chg="del">
          <ac:chgData name="Leila Iñigo de la Cruz" userId="fae4ed0d-52e1-4e8b-ac73-77e0b7235c9a" providerId="ADAL" clId="{959ED8BD-BF51-4BB8-96C3-60CD4A4024F8}" dt="2025-10-03T08:46:53.750" v="0" actId="478"/>
          <ac:spMkLst>
            <pc:docMk/>
            <pc:sldMk cId="2673622745" sldId="256"/>
            <ac:spMk id="5" creationId="{CCD88D82-8364-25B0-BFD4-FEEC827B6443}"/>
          </ac:spMkLst>
        </pc:spChg>
      </pc:sldChg>
      <pc:sldChg chg="modSp mod">
        <pc:chgData name="Leila Iñigo de la Cruz" userId="fae4ed0d-52e1-4e8b-ac73-77e0b7235c9a" providerId="ADAL" clId="{959ED8BD-BF51-4BB8-96C3-60CD4A4024F8}" dt="2025-10-03T08:49:37.901" v="118" actId="20577"/>
        <pc:sldMkLst>
          <pc:docMk/>
          <pc:sldMk cId="28071479" sldId="257"/>
        </pc:sldMkLst>
        <pc:spChg chg="mod">
          <ac:chgData name="Leila Iñigo de la Cruz" userId="fae4ed0d-52e1-4e8b-ac73-77e0b7235c9a" providerId="ADAL" clId="{959ED8BD-BF51-4BB8-96C3-60CD4A4024F8}" dt="2025-10-03T08:49:37.901" v="118" actId="20577"/>
          <ac:spMkLst>
            <pc:docMk/>
            <pc:sldMk cId="28071479" sldId="257"/>
            <ac:spMk id="4" creationId="{1D8F599F-40C8-714B-F33A-BDD8FDCCE4BB}"/>
          </ac:spMkLst>
        </pc:spChg>
      </pc:sldChg>
      <pc:sldChg chg="modSp mod modAnim">
        <pc:chgData name="Leila Iñigo de la Cruz" userId="fae4ed0d-52e1-4e8b-ac73-77e0b7235c9a" providerId="ADAL" clId="{959ED8BD-BF51-4BB8-96C3-60CD4A4024F8}" dt="2025-10-03T08:50:44.158" v="129"/>
        <pc:sldMkLst>
          <pc:docMk/>
          <pc:sldMk cId="4232634174" sldId="259"/>
        </pc:sldMkLst>
        <pc:spChg chg="mod">
          <ac:chgData name="Leila Iñigo de la Cruz" userId="fae4ed0d-52e1-4e8b-ac73-77e0b7235c9a" providerId="ADAL" clId="{959ED8BD-BF51-4BB8-96C3-60CD4A4024F8}" dt="2025-10-03T08:50:26.016" v="128" actId="13926"/>
          <ac:spMkLst>
            <pc:docMk/>
            <pc:sldMk cId="4232634174" sldId="259"/>
            <ac:spMk id="3" creationId="{7B473C41-CD9D-77F7-38C0-2A47ECF58844}"/>
          </ac:spMkLst>
        </pc:spChg>
      </pc:sldChg>
      <pc:sldChg chg="modSp mod">
        <pc:chgData name="Leila Iñigo de la Cruz" userId="fae4ed0d-52e1-4e8b-ac73-77e0b7235c9a" providerId="ADAL" clId="{959ED8BD-BF51-4BB8-96C3-60CD4A4024F8}" dt="2025-10-03T09:08:47.612" v="130" actId="2711"/>
        <pc:sldMkLst>
          <pc:docMk/>
          <pc:sldMk cId="612406261" sldId="262"/>
        </pc:sldMkLst>
        <pc:spChg chg="mod">
          <ac:chgData name="Leila Iñigo de la Cruz" userId="fae4ed0d-52e1-4e8b-ac73-77e0b7235c9a" providerId="ADAL" clId="{959ED8BD-BF51-4BB8-96C3-60CD4A4024F8}" dt="2025-10-03T09:08:47.612" v="130" actId="2711"/>
          <ac:spMkLst>
            <pc:docMk/>
            <pc:sldMk cId="612406261" sldId="262"/>
            <ac:spMk id="3" creationId="{329891ED-140E-455B-F300-7F061F7BCA4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32496-0420-5103-9A08-4BC3BA402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F031B-306F-727C-0468-685E2B3B00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FB567-32AB-7F62-4664-0A48C36B2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7EB24-CFE8-D455-3E3D-E7C6543B9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8132A-CBD6-21F2-572E-7A32A3941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839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B522-FED5-3146-7228-427BBE4E0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9D363-1A9C-5D87-5052-C90A2571D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3099F-9DE9-EB36-CDE0-FC2EA8624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28D50-8B0D-D093-229A-5FF5162E1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930C-16D0-17A6-DF5C-CD197D07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49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593F-8695-AA1E-DD40-0DB364792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7C42C-7D63-8B57-5963-AA273AEB4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CCE1D-9FE0-F51A-EA3A-B523F14B2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5E420-B0F0-307D-3AA3-15FBCE817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817C9-252B-43DB-0670-27737F6D9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047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BFF1F-5BE4-E04A-E1BF-6FF003204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453AC-EBF7-8A95-F505-98EA91EE17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DD740-DF1D-76A6-EE9E-9C032AEA0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8C9FC-C063-DB44-C6EA-9D0906686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829CC-295F-ACC5-1C0B-D0ADF0C5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60244-21AC-CFC7-A090-23F91943B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288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CFE83-613F-79C7-A404-46147D436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C5F6F-A781-E743-D4B4-A237BF33D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767BA-78FB-8FAB-1999-20184432E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6C76FF-AFE6-DCF6-36BA-47F4F38B36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66BF0F-02D5-88BB-8F14-90D64F2B6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345579-46B4-05CA-9718-972DF6DCF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908870-5F4C-6F19-F27C-B605AB6C1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8FE747-55A6-E621-B24B-F87DF3979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393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CA898-C8C7-80CD-492B-F6F40AC17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117BCC-F465-CDFA-7713-6E63D25FD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B10067-3A9C-385B-F5A7-38281E4B2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D61ED-FA55-43C9-C193-F151A7B9C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227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BD0385-D9F8-D04D-7F71-FB74BD0FF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B49D8A-0133-7E89-FAC0-DC6993EA0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C5F39-BFB3-B8A5-5785-146E7E3FA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930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D8248-CDD1-C508-BED5-86914CFD6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535FD-896B-8716-DAAC-EA0AD28ED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9EE17-080F-BEB8-6059-0B2A52D15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4E5C6-5D36-1C2A-D152-626C1185C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C98FE-552F-7D5E-B74D-10E5F2C68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F6BCA-81AC-C074-D951-43DB135F8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718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543A6-A0F3-5331-B7C3-07D09BF14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D80D26-06A7-80C8-44AC-38D4154342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E287B-EFCB-321E-783E-8B540D809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47E4F-CAD5-B043-07CA-2EAEF8CB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491BB-37DA-4EC2-C21C-3D08B034C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3E40B-E63F-9B7D-29CA-D1997D03B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783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A4731-F205-B05E-0879-29E4ACB63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01A76-011F-2F13-C3EA-159A01B19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8E77C-191B-F57F-5FE6-3F903D8A8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E9C46-FB6A-745E-F538-CD070E794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F0607-F4B1-4E35-B91C-A3C08CFCD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623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AFBBEE-C9BA-E4A5-1F9A-87D36E590B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5FFB3-42ED-3ACE-D731-30101E33B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730C3-6358-94C9-7181-E8B67414F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62164-E468-1350-B06B-B2A8698B7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30C38-D04E-4789-8606-4849BA191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039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8AD6B9-8742-60BD-54D9-1D202AF73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7768F-4583-60AF-FFF6-0DB11D370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AB4E3-B19F-CE54-5598-C1717F6CB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6D45CC-B4D8-421A-80A3-565CB046D52F}" type="datetimeFigureOut">
              <a:rPr lang="en-GB" smtClean="0"/>
              <a:t>03/10/2025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3C062-AEEF-9F56-B812-7BFF47E35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4F70D-CD72-248E-EF4A-FF0BC4A80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0201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bit.ly/3A9mNEJ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ourne_shel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C92670-83C4-49CF-A399-B1B3087010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Welcome to Day 2- Python/SWC</a:t>
            </a:r>
          </a:p>
        </p:txBody>
      </p:sp>
    </p:spTree>
    <p:extLst>
      <p:ext uri="{BB962C8B-B14F-4D97-AF65-F5344CB8AC3E}">
        <p14:creationId xmlns:p14="http://schemas.microsoft.com/office/powerpoint/2010/main" val="2673622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C42D3-0D32-3004-B263-D0BA4FD06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Agenda Day 2 Python SWC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F599F-40C8-714B-F33A-BDD8FDCCE4BB}"/>
              </a:ext>
            </a:extLst>
          </p:cNvPr>
          <p:cNvSpPr txBox="1"/>
          <p:nvPr/>
        </p:nvSpPr>
        <p:spPr>
          <a:xfrm>
            <a:off x="899968" y="2276856"/>
            <a:ext cx="10168128" cy="4497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effectLst/>
              </a:rPr>
              <a:t>09:00 - Recap of day 1  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effectLst/>
              </a:rPr>
              <a:t> 09:30 - Making choices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effectLst/>
              </a:rPr>
              <a:t> 10:00 - Exercise 1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effectLst/>
              </a:rPr>
              <a:t>10:15 - Coffee break</a:t>
            </a:r>
            <a:r>
              <a:rPr lang="en-US" sz="1400" b="0" dirty="0">
                <a:effectLst/>
              </a:rPr>
              <a:t> 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effectLst/>
              </a:rPr>
              <a:t>10:30 - Creating functions  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effectLst/>
              </a:rPr>
              <a:t>11:00 – Reusability/Modular coding/Documentation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11:15- Errors and exceptions</a:t>
            </a:r>
            <a:r>
              <a:rPr lang="en-US" sz="1400" b="0" dirty="0">
                <a:effectLst/>
              </a:rPr>
              <a:t> 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11:30- Defensive programming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effectLst/>
              </a:rPr>
              <a:t>12:00 C</a:t>
            </a:r>
            <a:r>
              <a:rPr lang="en-US" sz="1400" dirty="0"/>
              <a:t>ommand line programs</a:t>
            </a:r>
            <a:endParaRPr lang="en-US" sz="1400" b="0" dirty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400" b="0" dirty="0">
                <a:effectLst/>
              </a:rPr>
            </a:br>
            <a:r>
              <a:rPr lang="en-US" sz="1400" b="1" dirty="0">
                <a:effectLst/>
              </a:rPr>
              <a:t>12:30 – Lunch</a:t>
            </a:r>
            <a:r>
              <a:rPr lang="en-US" sz="1400" b="0" dirty="0">
                <a:effectLst/>
              </a:rPr>
              <a:t>  </a:t>
            </a:r>
          </a:p>
        </p:txBody>
      </p:sp>
    </p:spTree>
    <p:extLst>
      <p:ext uri="{BB962C8B-B14F-4D97-AF65-F5344CB8AC3E}">
        <p14:creationId xmlns:p14="http://schemas.microsoft.com/office/powerpoint/2010/main" val="28071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278656-9CDE-D34C-D138-D42FCDC32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Live note keeping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F50AE-F3BA-4E58-C25E-8D9211F9F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287" y="4121253"/>
            <a:ext cx="3125337" cy="11368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  <a:hlinkClick r:id="rId2"/>
              </a:rPr>
              <a:t>http://bit.ly/3A9mNEJ</a:t>
            </a:r>
            <a:r>
              <a: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pic>
        <p:nvPicPr>
          <p:cNvPr id="5" name="Picture 4" descr="A qr code with a white background&#10;&#10;Description automatically generated">
            <a:extLst>
              <a:ext uri="{FF2B5EF4-FFF2-40B4-BE49-F238E27FC236}">
                <a16:creationId xmlns:a16="http://schemas.microsoft.com/office/drawing/2014/main" id="{3EF06D89-7FEB-3A8F-DD57-4A813D98F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801" y="578738"/>
            <a:ext cx="5670549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4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B46EFD-99EC-63A6-EBDE-07F79E5A4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GB" sz="4000"/>
              <a:t>Recap day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73C41-CD9D-77F7-38C0-2A47ECF58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445366"/>
            <a:ext cx="10168128" cy="39920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Goal: Analysis inflammation data</a:t>
            </a:r>
          </a:p>
          <a:p>
            <a:pPr marL="0" indent="0">
              <a:buNone/>
            </a:pPr>
            <a:endParaRPr lang="en-US" sz="14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 fundamentals on variables and lists</a:t>
            </a:r>
          </a:p>
          <a:p>
            <a:r>
              <a:rPr lang="en-US" sz="1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Import and </a:t>
            </a:r>
            <a:r>
              <a:rPr lang="en-US" sz="14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en-US" sz="1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data with `</a:t>
            </a:r>
            <a:r>
              <a:rPr lang="en-US" sz="14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en-US" sz="1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`</a:t>
            </a:r>
          </a:p>
          <a:p>
            <a:r>
              <a:rPr lang="en-US" sz="1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Create figure with subplots using `</a:t>
            </a:r>
            <a:r>
              <a:rPr lang="en-US" sz="14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matplotlib.pyplot</a:t>
            </a:r>
            <a:r>
              <a:rPr lang="en-US" sz="1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`</a:t>
            </a:r>
          </a:p>
          <a:p>
            <a:r>
              <a:rPr lang="en-US" sz="1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Repeat analysis in a for-loop together with `glob`</a:t>
            </a:r>
          </a:p>
          <a:p>
            <a:pPr marL="0" indent="0"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br>
              <a:rPr lang="en-US" sz="1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highlight>
                  <a:srgbClr val="FFFF00"/>
                </a:highligh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Today</a:t>
            </a:r>
          </a:p>
          <a:p>
            <a:r>
              <a:rPr lang="en-US" sz="1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Catch suspicious datasets with conditional statements</a:t>
            </a:r>
          </a:p>
          <a:p>
            <a:r>
              <a:rPr lang="en-US" sz="1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Create reusable function(s) with the analysis</a:t>
            </a:r>
          </a:p>
          <a:p>
            <a:r>
              <a:rPr lang="en-US" sz="1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Understand errors</a:t>
            </a:r>
          </a:p>
          <a:p>
            <a:r>
              <a:rPr lang="en-US" sz="1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Run python in the command line (</a:t>
            </a:r>
            <a:r>
              <a:rPr lang="en-US" sz="1400" b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unix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shell</a:t>
            </a:r>
            <a:r>
              <a:rPr lang="en-US" sz="1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634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A6FA06-8B83-D589-EEFB-3C1456EF0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Tidying up / Modular Code</a:t>
            </a:r>
            <a:br>
              <a:rPr lang="en-US" sz="48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 descr="A diagram of a function&#10;&#10;Description automatically generated">
            <a:extLst>
              <a:ext uri="{FF2B5EF4-FFF2-40B4-BE49-F238E27FC236}">
                <a16:creationId xmlns:a16="http://schemas.microsoft.com/office/drawing/2014/main" id="{282F20BA-54A9-7633-3D68-1E90E2CE1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608" y="1658899"/>
            <a:ext cx="6846363" cy="338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83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C8B26E-1CA2-2433-10DD-DC782020745C}"/>
              </a:ext>
            </a:extLst>
          </p:cNvPr>
          <p:cNvSpPr txBox="1">
            <a:spLocks/>
          </p:cNvSpPr>
          <p:nvPr/>
        </p:nvSpPr>
        <p:spPr>
          <a:xfrm>
            <a:off x="1115568" y="548640"/>
            <a:ext cx="10168128" cy="1179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Tidying up / Modular Code</a:t>
            </a:r>
            <a:b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8AACD-0A2A-A4E2-0C69-59CD1787325B}"/>
              </a:ext>
            </a:extLst>
          </p:cNvPr>
          <p:cNvSpPr txBox="1">
            <a:spLocks/>
          </p:cNvSpPr>
          <p:nvPr/>
        </p:nvSpPr>
        <p:spPr>
          <a:xfrm>
            <a:off x="1115568" y="2481943"/>
            <a:ext cx="10168128" cy="3695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sz="2200" dirty="0"/>
            </a:br>
            <a:r>
              <a:rPr lang="en-US" sz="2200" dirty="0"/>
              <a:t>Modular coding is a software design technique that involves breaking code down into smaller, reusable units called modules or functions.</a:t>
            </a:r>
          </a:p>
          <a:p>
            <a:pPr marL="0"/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Advantages</a:t>
            </a:r>
            <a:endParaRPr lang="en-US" sz="2200" dirty="0"/>
          </a:p>
          <a:p>
            <a:r>
              <a:rPr lang="en-US" sz="2200" dirty="0"/>
              <a:t>Your code is easier to read, debug, and maintain.</a:t>
            </a:r>
          </a:p>
          <a:p>
            <a:r>
              <a:rPr lang="en-US" sz="2200" dirty="0"/>
              <a:t>Improve reusability of your code for yourself and others.</a:t>
            </a:r>
          </a:p>
          <a:p>
            <a:r>
              <a:rPr lang="en-US" sz="2200" dirty="0"/>
              <a:t>Use functions to break down complex tasks into simpler steps.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404414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84F45-7F1C-DEFC-F0BE-E4E3EE239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 b="1">
                <a:effectLst/>
                <a:latin typeface="Consolas" panose="020B0609020204030204" pitchFamily="49" charset="0"/>
              </a:rPr>
              <a:t>Defensive Programming</a:t>
            </a:r>
            <a:br>
              <a:rPr lang="en-US" sz="3700" b="0">
                <a:effectLst/>
                <a:latin typeface="Consolas" panose="020B0609020204030204" pitchFamily="49" charset="0"/>
              </a:rPr>
            </a:br>
            <a:endParaRPr lang="en-GB" sz="37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891ED-140E-455B-F300-7F061F7BC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Program defensively, i.e., assume that errors are going to arise, and write code to detect them when they do.</a:t>
            </a:r>
          </a:p>
          <a:p>
            <a:r>
              <a:rPr lang="en-US" sz="22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Put assertions in programs to check their state as they run, and to help readers understand how those programs are supposed to work.</a:t>
            </a:r>
          </a:p>
          <a:p>
            <a:r>
              <a:rPr lang="en-US" sz="22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Failed assertions will generate a `</a:t>
            </a:r>
            <a:r>
              <a:rPr lang="en-US" sz="22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AssertionError</a:t>
            </a:r>
            <a:r>
              <a:rPr lang="en-US" sz="22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`</a:t>
            </a:r>
          </a:p>
          <a:p>
            <a:r>
              <a:rPr lang="en-US" sz="22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pre-conditions to check that the inputs to a function are safe to use.</a:t>
            </a:r>
          </a:p>
          <a:p>
            <a:r>
              <a:rPr lang="en-US" sz="22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post-conditions to check that the output from a function is safe to use.</a:t>
            </a:r>
          </a:p>
          <a:p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406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8CCD44-D224-4989-A79B-0B0890BDC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1500" b="1">
                <a:effectLst/>
                <a:latin typeface="Consolas" panose="020B0609020204030204" pitchFamily="49" charset="0"/>
              </a:rPr>
              <a:t>Command-line programs: </a:t>
            </a:r>
            <a:br>
              <a:rPr lang="en-US" sz="1500" b="1">
                <a:effectLst/>
                <a:latin typeface="Consolas" panose="020B0609020204030204" pitchFamily="49" charset="0"/>
              </a:rPr>
            </a:br>
            <a:r>
              <a:rPr lang="en-US" sz="1500" b="0">
                <a:effectLst/>
                <a:latin typeface="Consolas" panose="020B0609020204030204" pitchFamily="49" charset="0"/>
              </a:rPr>
              <a:t>Running python scripts in the terminal </a:t>
            </a:r>
            <a:br>
              <a:rPr lang="en-US" sz="1500" b="0">
                <a:effectLst/>
                <a:latin typeface="Consolas" panose="020B0609020204030204" pitchFamily="49" charset="0"/>
              </a:rPr>
            </a:br>
            <a:r>
              <a:rPr lang="en-US" sz="1500" b="1">
                <a:effectLst/>
                <a:latin typeface="Consolas" panose="020B0609020204030204" pitchFamily="49" charset="0"/>
              </a:rPr>
              <a:t> </a:t>
            </a:r>
            <a:br>
              <a:rPr lang="en-US" sz="1500" b="0">
                <a:effectLst/>
                <a:latin typeface="Consolas" panose="020B0609020204030204" pitchFamily="49" charset="0"/>
              </a:rPr>
            </a:br>
            <a:endParaRPr lang="en-GB" sz="15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7E2E9-ACEF-3208-C916-DD044DD88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400" b="1">
                <a:effectLst/>
                <a:latin typeface="Consolas" panose="020B0609020204030204" pitchFamily="49" charset="0"/>
              </a:rPr>
              <a:t>when to use the terminal:</a:t>
            </a:r>
          </a:p>
          <a:p>
            <a:pPr marL="0" indent="0">
              <a:buNone/>
            </a:pPr>
            <a:endParaRPr lang="en-US" sz="1400" b="1">
              <a:effectLst/>
              <a:latin typeface="Consolas" panose="020B0609020204030204" pitchFamily="49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1400" b="1">
                <a:effectLst/>
                <a:latin typeface="Consolas" panose="020B0609020204030204" pitchFamily="49" charset="0"/>
              </a:rPr>
              <a:t>Automation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1400" b="1">
                <a:effectLst/>
                <a:latin typeface="Consolas" panose="020B0609020204030204" pitchFamily="49" charset="0"/>
              </a:rPr>
              <a:t>Working on remote servers </a:t>
            </a:r>
            <a:r>
              <a:rPr lang="en-US" sz="1400" b="0">
                <a:effectLst/>
                <a:latin typeface="Consolas" panose="020B0609020204030204" pitchFamily="49" charset="0"/>
              </a:rPr>
              <a:t>, like an HPC/cloud platforms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1400" b="1">
                <a:effectLst/>
                <a:latin typeface="Consolas" panose="020B0609020204030204" pitchFamily="49" charset="0"/>
              </a:rPr>
              <a:t>Command line arguments </a:t>
            </a:r>
            <a:r>
              <a:rPr lang="en-US" sz="1400" b="0">
                <a:effectLst/>
                <a:latin typeface="Consolas" panose="020B0609020204030204" pitchFamily="49" charset="0"/>
              </a:rPr>
              <a:t>: Building command-line tools or utilities that accept arguments from the user.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1400"/>
          </a:p>
        </p:txBody>
      </p:sp>
      <p:pic>
        <p:nvPicPr>
          <p:cNvPr id="5" name="Picture 4" descr="A screenshot of a computer terminal&#10;&#10;Description automatically generated">
            <a:extLst>
              <a:ext uri="{FF2B5EF4-FFF2-40B4-BE49-F238E27FC236}">
                <a16:creationId xmlns:a16="http://schemas.microsoft.com/office/drawing/2014/main" id="{D5834816-BE09-A009-DE30-892CF738F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901184" y="1271044"/>
            <a:ext cx="6922008" cy="44164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D7018B-C91C-BD23-48F1-3E2AF1303BD2}"/>
              </a:ext>
            </a:extLst>
          </p:cNvPr>
          <p:cNvSpPr txBox="1"/>
          <p:nvPr/>
        </p:nvSpPr>
        <p:spPr>
          <a:xfrm>
            <a:off x="9391116" y="5487485"/>
            <a:ext cx="243207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GB" sz="700">
                <a:solidFill>
                  <a:srgbClr val="FFFFFF"/>
                </a:solidFill>
                <a:hlinkClick r:id="rId3" tooltip="https://en.wikipedia.org/wiki/Bourne_shel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GB" sz="700">
                <a:solidFill>
                  <a:srgbClr val="FFFFFF"/>
                </a:solidFill>
              </a:rPr>
              <a:t> by Unknown Author is licensed under </a:t>
            </a:r>
            <a:r>
              <a:rPr lang="en-GB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855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358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Consolas</vt:lpstr>
      <vt:lpstr>Office Theme</vt:lpstr>
      <vt:lpstr>Welcome to Day 2- Python/SWC</vt:lpstr>
      <vt:lpstr>Agenda Day 2 Python SWC</vt:lpstr>
      <vt:lpstr>Live note keeping </vt:lpstr>
      <vt:lpstr>Recap day 1</vt:lpstr>
      <vt:lpstr>Tidying up / Modular Code </vt:lpstr>
      <vt:lpstr>PowerPoint Presentation</vt:lpstr>
      <vt:lpstr>Defensive Programming </vt:lpstr>
      <vt:lpstr>Command-line programs:  Running python scripts in the terminal    </vt:lpstr>
    </vt:vector>
  </TitlesOfParts>
  <Company>TU Delft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Leila Iñigo de la Cruz</dc:creator>
  <cp:lastModifiedBy>Leila Iñigo de la Cruz</cp:lastModifiedBy>
  <cp:revision>6</cp:revision>
  <dcterms:created xsi:type="dcterms:W3CDTF">2024-10-23T11:55:19Z</dcterms:created>
  <dcterms:modified xsi:type="dcterms:W3CDTF">2025-10-03T09:08:49Z</dcterms:modified>
</cp:coreProperties>
</file>